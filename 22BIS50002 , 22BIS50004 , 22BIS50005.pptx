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3"/>
  </p:notesMasterIdLst>
  <p:handoutMasterIdLst>
    <p:handoutMasterId r:id="rId14"/>
  </p:handoutMasterIdLst>
  <p:sldIdLst>
    <p:sldId id="277" r:id="rId4"/>
    <p:sldId id="399" r:id="rId5"/>
    <p:sldId id="401" r:id="rId6"/>
    <p:sldId id="400" r:id="rId7"/>
    <p:sldId id="413" r:id="rId8"/>
    <p:sldId id="403" r:id="rId9"/>
    <p:sldId id="411" r:id="rId10"/>
    <p:sldId id="412" r:id="rId11"/>
    <p:sldId id="4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7C6BD-944F-4C2D-96CF-E0F622522610}" v="6" dt="2024-02-04T06:45:24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1200" y="2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8/10/2025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79076" y="120543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CSE(INFORMATION SECURITY)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2400" b="1" dirty="0">
                <a:latin typeface="Arial Black" pitchFamily="34" charset="0"/>
              </a:rPr>
              <a:t>Detection of Insider Threat  Behavior Patterns: A Data Driven Approach Using Power BI</a:t>
            </a:r>
            <a:endParaRPr lang="en-US" sz="24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22492" y="4098190"/>
            <a:ext cx="374365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/>
          </a:p>
          <a:p>
            <a:r>
              <a:rPr lang="en-US" sz="2000" b="1" dirty="0"/>
              <a:t>Submitted by: </a:t>
            </a:r>
          </a:p>
          <a:p>
            <a:endParaRPr lang="en-US" sz="2000" dirty="0"/>
          </a:p>
          <a:p>
            <a:r>
              <a:rPr lang="en-US" sz="2000" dirty="0"/>
              <a:t>SHUBAHM PATEL(22BIS50002)</a:t>
            </a:r>
          </a:p>
          <a:p>
            <a:r>
              <a:rPr lang="en-US" sz="2000" dirty="0"/>
              <a:t>LALIT(22BIS50004) </a:t>
            </a:r>
          </a:p>
          <a:p>
            <a:r>
              <a:rPr lang="en-US" sz="2000" dirty="0"/>
              <a:t>SHASHWAT SHARMA(22BIS50005)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737221" y="4808177"/>
            <a:ext cx="2971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Sheetal </a:t>
            </a:r>
            <a:r>
              <a:rPr lang="en-US" sz="2000" dirty="0" err="1"/>
              <a:t>Laroiya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</a:t>
            </a:r>
          </a:p>
          <a:p>
            <a:r>
              <a:rPr lang="en-US" dirty="0">
                <a:latin typeface="Times New Roman"/>
                <a:cs typeface="Times New Roman"/>
              </a:rPr>
              <a:t>Objective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Insider Threat</a:t>
            </a:r>
            <a:r>
              <a:rPr lang="en-US" dirty="0"/>
              <a:t> refers to security risks originating from individuals within an organization (employees, contractors, partners).</a:t>
            </a:r>
          </a:p>
          <a:p>
            <a:r>
              <a:rPr lang="en-US" dirty="0"/>
              <a:t>These threats can be </a:t>
            </a:r>
            <a:r>
              <a:rPr lang="en-US" b="1" dirty="0"/>
              <a:t>malicious</a:t>
            </a:r>
            <a:r>
              <a:rPr lang="en-US" dirty="0"/>
              <a:t> (intentional data theft, sabotage) or </a:t>
            </a:r>
            <a:r>
              <a:rPr lang="en-US" b="1" dirty="0"/>
              <a:t>negligent</a:t>
            </a:r>
            <a:r>
              <a:rPr lang="en-US" dirty="0"/>
              <a:t> (careless handling of sensitive data).</a:t>
            </a:r>
          </a:p>
          <a:p>
            <a:r>
              <a:rPr lang="en-US" dirty="0"/>
              <a:t>Traditional security systems often focus on </a:t>
            </a:r>
            <a:r>
              <a:rPr lang="en-US" b="1" dirty="0"/>
              <a:t>external attacks</a:t>
            </a:r>
            <a:r>
              <a:rPr lang="en-US" dirty="0"/>
              <a:t>, leaving insider threats under-monitored.</a:t>
            </a:r>
          </a:p>
          <a:p>
            <a:r>
              <a:rPr lang="en-US" dirty="0"/>
              <a:t>With the growth of </a:t>
            </a:r>
            <a:r>
              <a:rPr lang="en-US" b="1" dirty="0"/>
              <a:t>data-driven decision-making</a:t>
            </a:r>
            <a:r>
              <a:rPr lang="en-US" dirty="0"/>
              <a:t>, analyzing user behavior patterns can significantly improve threat detection.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BC4796-1B4C-7D77-229B-796CF975CD57}"/>
              </a:ext>
            </a:extLst>
          </p:cNvPr>
          <p:cNvSpPr txBox="1"/>
          <p:nvPr/>
        </p:nvSpPr>
        <p:spPr>
          <a:xfrm>
            <a:off x="653143" y="1914623"/>
            <a:ext cx="638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68B61F-48F6-C3F3-810F-72A38DC5D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316"/>
            <a:ext cx="10700657" cy="5203408"/>
          </a:xfrm>
        </p:spPr>
        <p:txBody>
          <a:bodyPr>
            <a:noAutofit/>
          </a:bodyPr>
          <a:lstStyle/>
          <a:p>
            <a:r>
              <a:rPr lang="en-US" b="1" dirty="0"/>
              <a:t>Objective</a:t>
            </a:r>
            <a:r>
              <a:rPr lang="en-US" dirty="0"/>
              <a:t>: Identify unusual or risky insider activities by leveraging data analytics and visualization.</a:t>
            </a:r>
          </a:p>
          <a:p>
            <a:r>
              <a:rPr lang="en-US" b="1" dirty="0"/>
              <a:t>Approach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Collect logs from internal systems (e.g., access logs, file usage, login times).</a:t>
            </a:r>
          </a:p>
          <a:p>
            <a:pPr lvl="1"/>
            <a:r>
              <a:rPr lang="en-US" dirty="0"/>
              <a:t>Apply data preprocessing to identify key indicators of suspicious behavior.</a:t>
            </a:r>
          </a:p>
          <a:p>
            <a:pPr lvl="1"/>
            <a:r>
              <a:rPr lang="en-US" dirty="0"/>
              <a:t>Use </a:t>
            </a:r>
            <a:r>
              <a:rPr lang="en-US" b="1" dirty="0"/>
              <a:t>Power BI</a:t>
            </a:r>
            <a:r>
              <a:rPr lang="en-US" dirty="0"/>
              <a:t> dashboards for </a:t>
            </a:r>
            <a:r>
              <a:rPr lang="en-US" b="1" dirty="0"/>
              <a:t>real-time visualization</a:t>
            </a:r>
            <a:r>
              <a:rPr lang="en-US" dirty="0"/>
              <a:t> and pattern recognition.</a:t>
            </a:r>
          </a:p>
          <a:p>
            <a:r>
              <a:rPr lang="en-US" b="1" dirty="0"/>
              <a:t>Benefits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Early detection of potential threats.</a:t>
            </a:r>
          </a:p>
          <a:p>
            <a:pPr lvl="1"/>
            <a:r>
              <a:rPr lang="en-US" dirty="0"/>
              <a:t>Actionable insights for security teams.</a:t>
            </a:r>
          </a:p>
          <a:p>
            <a:pPr lvl="1"/>
            <a:r>
              <a:rPr lang="en-US" dirty="0"/>
              <a:t>Improved compliance and reduced data breach risks.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53388-E42F-98DE-B3BB-09C05B1E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14C0-CB0B-F690-9102-01F08EDB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0A2C3-072A-830D-A130-81AA560A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B727CF-7777-F8B5-24DB-21BBD72EED5E}"/>
              </a:ext>
            </a:extLst>
          </p:cNvPr>
          <p:cNvSpPr txBox="1"/>
          <p:nvPr/>
        </p:nvSpPr>
        <p:spPr>
          <a:xfrm>
            <a:off x="653143" y="1914623"/>
            <a:ext cx="638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D1C1B8-5BFC-9274-F93E-4FEBB33D5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652" y="1517650"/>
            <a:ext cx="9434696" cy="5203825"/>
          </a:xfrm>
        </p:spPr>
      </p:pic>
    </p:spTree>
    <p:extLst>
      <p:ext uri="{BB962C8B-B14F-4D97-AF65-F5344CB8AC3E}">
        <p14:creationId xmlns:p14="http://schemas.microsoft.com/office/powerpoint/2010/main" val="262978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r>
              <a:rPr lang="en-US" b="1" dirty="0"/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1873"/>
            <a:ext cx="10515600" cy="5108886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1: Data Collection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Gather logs from multiple internal sources:</a:t>
            </a:r>
          </a:p>
          <a:p>
            <a:pPr lvl="2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Operating system(Windows Event Viewer , Linux /var/log/).</a:t>
            </a:r>
          </a:p>
          <a:p>
            <a:pPr lvl="2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Application &amp; database (web server logs, DB query logs).</a:t>
            </a:r>
          </a:p>
          <a:p>
            <a:pPr lvl="2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Network devices(router, firewall, switch Syslog).</a:t>
            </a:r>
          </a:p>
          <a:p>
            <a:pPr lvl="2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Cloud services(AWS, Azure, Microsoft 365 audit logs).</a:t>
            </a:r>
          </a:p>
          <a:p>
            <a:pPr lvl="2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User Login/logout records, file access history, email/messaging patterns.</a:t>
            </a:r>
          </a:p>
          <a:p>
            <a:pPr marL="0" indent="0">
              <a:buNone/>
            </a:pPr>
            <a:r>
              <a:rPr lang="en-IN" b="1" dirty="0"/>
              <a:t>      Step 2: Data Preprocessing</a:t>
            </a:r>
            <a:endParaRPr lang="en-IN" dirty="0"/>
          </a:p>
          <a:p>
            <a:pPr lvl="2"/>
            <a:r>
              <a:rPr lang="en-IN" sz="2400" dirty="0"/>
              <a:t>Remove duplicate/irrelevant records</a:t>
            </a:r>
          </a:p>
          <a:p>
            <a:pPr lvl="2"/>
            <a:r>
              <a:rPr lang="en-IN" sz="2400" dirty="0"/>
              <a:t>Handle missing values and normalize data formats</a:t>
            </a:r>
          </a:p>
          <a:p>
            <a:pPr lvl="2"/>
            <a:r>
              <a:rPr lang="en-IN" sz="2400" dirty="0"/>
              <a:t>Convert timestamps into meaningful segments (e.g., working hours vs. odd hours)</a:t>
            </a:r>
          </a:p>
          <a:p>
            <a:pPr lvl="2"/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9793-E774-2226-D232-0BA51731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8560-35F9-E0EC-35CB-6D1160802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r>
              <a:rPr lang="en-US" b="1" dirty="0"/>
              <a:t>Methodology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F32B-7E7C-5FDB-B02F-B448EAA4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873"/>
            <a:ext cx="10515600" cy="5108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3: Feature Extraction</a:t>
            </a:r>
            <a:endParaRPr lang="en-US" dirty="0"/>
          </a:p>
          <a:p>
            <a:r>
              <a:rPr lang="en-US" dirty="0"/>
              <a:t> Identify </a:t>
            </a:r>
            <a:r>
              <a:rPr lang="en-US" b="1" dirty="0"/>
              <a:t>Key Behavioral Indicators (KBIs)</a:t>
            </a:r>
            <a:r>
              <a:rPr lang="en-US" dirty="0"/>
              <a:t> such as:</a:t>
            </a:r>
          </a:p>
          <a:p>
            <a:pPr lvl="1"/>
            <a:r>
              <a:rPr lang="en-US" dirty="0"/>
              <a:t>Unusual login times</a:t>
            </a:r>
          </a:p>
          <a:p>
            <a:pPr lvl="1"/>
            <a:r>
              <a:rPr lang="en-US" dirty="0"/>
              <a:t>Excessive data downloads</a:t>
            </a:r>
          </a:p>
          <a:p>
            <a:pPr lvl="1"/>
            <a:r>
              <a:rPr lang="en-US" dirty="0"/>
              <a:t>Access to restricted files</a:t>
            </a:r>
          </a:p>
          <a:p>
            <a:pPr lvl="1"/>
            <a:r>
              <a:rPr lang="en-US" dirty="0"/>
              <a:t>Abnormal network traffic patterns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Step 4: Data Integration into Power BI</a:t>
            </a:r>
            <a:endParaRPr lang="en-IN" dirty="0"/>
          </a:p>
          <a:p>
            <a:pPr lvl="1"/>
            <a:r>
              <a:rPr lang="en-IN" dirty="0"/>
              <a:t>Import cleaned datasets (CSV/JSON/Database) into Power BI</a:t>
            </a:r>
          </a:p>
          <a:p>
            <a:pPr lvl="1"/>
            <a:r>
              <a:rPr lang="en-IN" dirty="0"/>
              <a:t>Establish relationships between multiple log sources</a:t>
            </a:r>
          </a:p>
          <a:p>
            <a:pPr lvl="1"/>
            <a:r>
              <a:rPr lang="en-IN" dirty="0"/>
              <a:t>Enable scheduled data refresh for updated insights</a:t>
            </a:r>
          </a:p>
          <a:p>
            <a:pPr lvl="2"/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2FE8D-1B3E-0514-B039-7800AEEA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3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6012-E5E3-4842-7CC0-385E12FB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409F-97B1-E16D-3D48-B6946C77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r>
              <a:rPr lang="en-US" b="1" dirty="0"/>
              <a:t>Methodology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F9264-757F-79F8-9C4D-50FAFD79B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873"/>
            <a:ext cx="10515600" cy="5108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5: Visualization &amp; Pattern Detection</a:t>
            </a:r>
            <a:endParaRPr lang="en-US" dirty="0"/>
          </a:p>
          <a:p>
            <a:pPr lvl="1"/>
            <a:r>
              <a:rPr lang="en-US" dirty="0"/>
              <a:t>Create interactive dashboards for real-time monitoring</a:t>
            </a:r>
          </a:p>
          <a:p>
            <a:pPr lvl="1"/>
            <a:r>
              <a:rPr lang="en-US" dirty="0"/>
              <a:t>Use charts, heatmaps, and anomaly detection visuals to highlight risky behaviors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6: Insight Generation &amp; Reporting</a:t>
            </a:r>
            <a:endParaRPr lang="en-US" dirty="0"/>
          </a:p>
          <a:p>
            <a:pPr lvl="1"/>
            <a:r>
              <a:rPr lang="en-US" dirty="0"/>
              <a:t>Detect unusual activity patterns through visual trends</a:t>
            </a:r>
          </a:p>
          <a:p>
            <a:pPr lvl="1"/>
            <a:r>
              <a:rPr lang="en-US" dirty="0"/>
              <a:t>Generate automated alerts for high-risk activities</a:t>
            </a:r>
          </a:p>
          <a:p>
            <a:pPr lvl="1"/>
            <a:r>
              <a:rPr lang="en-US" dirty="0"/>
              <a:t>Provide </a:t>
            </a:r>
            <a:r>
              <a:rPr lang="en-US" b="1" dirty="0"/>
              <a:t>actionable reports</a:t>
            </a:r>
            <a:r>
              <a:rPr lang="en-US" dirty="0"/>
              <a:t> for security teams to investigate</a:t>
            </a:r>
          </a:p>
          <a:p>
            <a:pPr lvl="2"/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E264C-F8FC-391C-F91D-5E2D9EB4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97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0947" y="2397968"/>
            <a:ext cx="4366726" cy="17261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dirty="0">
                <a:latin typeface="Monotype Corsiva" panose="03010101010201010101" pitchFamily="66" charset="0"/>
              </a:rPr>
              <a:t>                          </a:t>
            </a:r>
            <a:r>
              <a:rPr lang="en-US" sz="9600" dirty="0">
                <a:latin typeface="Monotype Corsiva" panose="03010101010201010101" pitchFamily="66" charset="0"/>
              </a:rPr>
              <a:t>Thankyou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6686</TotalTime>
  <Words>472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Casper</vt:lpstr>
      <vt:lpstr>Monotype Corsiva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</vt:lpstr>
      <vt:lpstr>Project Overview </vt:lpstr>
      <vt:lpstr>Project Overview </vt:lpstr>
      <vt:lpstr>Methodology used</vt:lpstr>
      <vt:lpstr>Methodology used</vt:lpstr>
      <vt:lpstr>Methodology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Lalit Jangra</cp:lastModifiedBy>
  <cp:revision>497</cp:revision>
  <dcterms:created xsi:type="dcterms:W3CDTF">2019-01-09T10:33:58Z</dcterms:created>
  <dcterms:modified xsi:type="dcterms:W3CDTF">2025-08-10T07:18:35Z</dcterms:modified>
</cp:coreProperties>
</file>