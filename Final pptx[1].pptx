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5"/>
  </p:notesMasterIdLst>
  <p:handoutMasterIdLst>
    <p:handoutMasterId r:id="rId16"/>
  </p:handoutMasterIdLst>
  <p:sldIdLst>
    <p:sldId id="277" r:id="rId4"/>
    <p:sldId id="399" r:id="rId5"/>
    <p:sldId id="401" r:id="rId6"/>
    <p:sldId id="411" r:id="rId7"/>
    <p:sldId id="412" r:id="rId8"/>
    <p:sldId id="400" r:id="rId9"/>
    <p:sldId id="413" r:id="rId10"/>
    <p:sldId id="403" r:id="rId11"/>
    <p:sldId id="414" r:id="rId12"/>
    <p:sldId id="415" r:id="rId13"/>
    <p:sldId id="4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7C6BD-944F-4C2D-96CF-E0F622522610}" v="6" dt="2024-02-04T06:45:24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120543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CSE(INFORMATION SECURITY)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2400" b="1" dirty="0">
                <a:latin typeface="Arial Black" pitchFamily="34" charset="0"/>
              </a:rPr>
              <a:t>Detection of Insider Threat  Behavior Patterns: A Data Driven Approach Using Power BI</a:t>
            </a:r>
            <a:endParaRPr lang="en-US" sz="24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2492" y="4098190"/>
            <a:ext cx="374365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Submitted by: </a:t>
            </a:r>
          </a:p>
          <a:p>
            <a:endParaRPr lang="en-US" sz="2000" dirty="0"/>
          </a:p>
          <a:p>
            <a:r>
              <a:rPr lang="en-US" sz="2000" dirty="0"/>
              <a:t>SHUBAHM PATEL(22BIS50002)</a:t>
            </a:r>
          </a:p>
          <a:p>
            <a:r>
              <a:rPr lang="en-US" sz="2000" dirty="0"/>
              <a:t>LALIT(22BIS50004) </a:t>
            </a:r>
          </a:p>
          <a:p>
            <a:r>
              <a:rPr lang="en-US" sz="2000" dirty="0"/>
              <a:t>SHASHWAT SHARMA(22BIS50005)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737221" y="4808177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Sheetal </a:t>
            </a:r>
            <a:r>
              <a:rPr lang="en-US" sz="2000" dirty="0" err="1"/>
              <a:t>Laroiya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</a:t>
            </a:r>
          </a:p>
          <a:p>
            <a:r>
              <a:rPr lang="en-US" dirty="0">
                <a:latin typeface="Times New Roman"/>
                <a:cs typeface="Times New Roman"/>
              </a:rPr>
              <a:t>Objective</a:t>
            </a:r>
          </a:p>
          <a:p>
            <a:r>
              <a:rPr lang="en-US" dirty="0">
                <a:latin typeface="Times New Roman"/>
                <a:cs typeface="Times New Roman"/>
              </a:rPr>
              <a:t>Key Components</a:t>
            </a:r>
          </a:p>
          <a:p>
            <a:r>
              <a:rPr lang="en-US" dirty="0">
                <a:latin typeface="Times New Roman"/>
                <a:cs typeface="Times New Roman"/>
              </a:rPr>
              <a:t>Project Overview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Block Diagram</a:t>
            </a:r>
          </a:p>
          <a:p>
            <a:r>
              <a:rPr lang="en-US" dirty="0">
                <a:latin typeface="Times New Roman"/>
                <a:cs typeface="Times New Roman"/>
              </a:rPr>
              <a:t>Result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Growing Security Challenge:-  </a:t>
            </a:r>
            <a:r>
              <a:rPr lang="en-US" dirty="0"/>
              <a:t>Organizations face increasing risks from insider threats as employees have greater access to sensitive data and systems than ever before.</a:t>
            </a:r>
          </a:p>
          <a:p>
            <a:endParaRPr lang="en-IN" b="1" dirty="0"/>
          </a:p>
          <a:p>
            <a:r>
              <a:rPr lang="en-IN" b="1" dirty="0"/>
              <a:t>Data-Driven Solution:- </a:t>
            </a:r>
            <a:r>
              <a:rPr lang="en-US" dirty="0"/>
              <a:t>This project introduces a systematic approach to detect suspicious behavior patterns by analyzing user activity data through Power BI's powerful analytics capabilities.</a:t>
            </a:r>
          </a:p>
          <a:p>
            <a:endParaRPr lang="en-US" dirty="0"/>
          </a:p>
          <a:p>
            <a:r>
              <a:rPr lang="en-IN" b="1" dirty="0"/>
              <a:t>Proactive Detection:- </a:t>
            </a:r>
            <a:r>
              <a:rPr lang="en-US" dirty="0"/>
              <a:t>By identifying anomalous patterns early, organizations can prevent data breaches, intellectual property theft, and other malicious activities before significant damage occurs.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9793-E774-2226-D232-0BA51731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8560-35F9-E0EC-35CB-6D116080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F32B-7E7C-5FDB-B02F-B448EAA4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/>
          </a:bodyPr>
          <a:lstStyle/>
          <a:p>
            <a:r>
              <a:rPr lang="en-IN" b="1" dirty="0"/>
              <a:t>Establish </a:t>
            </a:r>
            <a:r>
              <a:rPr lang="en-IN" b="1" dirty="0" err="1"/>
              <a:t>Behavioral</a:t>
            </a:r>
            <a:r>
              <a:rPr lang="en-IN" b="1" dirty="0"/>
              <a:t> Baselines:-</a:t>
            </a:r>
          </a:p>
          <a:p>
            <a:pPr marL="0" indent="0">
              <a:buNone/>
            </a:pPr>
            <a:r>
              <a:rPr lang="en-US" dirty="0"/>
              <a:t>Create comprehensive profiles of normal user behavior patterns across different roles, departments, and access levels within the organization.</a:t>
            </a:r>
          </a:p>
          <a:p>
            <a:r>
              <a:rPr lang="en-IN" b="1" dirty="0"/>
              <a:t>Detect Anomalous Activities:-</a:t>
            </a:r>
          </a:p>
          <a:p>
            <a:pPr marL="0" indent="0">
              <a:buNone/>
            </a:pPr>
            <a:r>
              <a:rPr lang="en-US" dirty="0"/>
              <a:t>Identify deviations from established baselines that may indicate malicious intent, including unusual access times, excessive data downloads, or unauthorized system access.</a:t>
            </a:r>
          </a:p>
          <a:p>
            <a:r>
              <a:rPr lang="en-IN" b="1" dirty="0"/>
              <a:t>Implement Real-Time Monitoring:-</a:t>
            </a:r>
          </a:p>
          <a:p>
            <a:pPr marL="0" indent="0">
              <a:buNone/>
            </a:pPr>
            <a:r>
              <a:rPr lang="en-US" dirty="0"/>
              <a:t>Deploy continuous surveillance capabilities that analyze user activities as they occur, enabling immediate detection of potential threats.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2FE8D-1B3E-0514-B039-7800AEEA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6012-E5E3-4842-7CC0-385E12FB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409F-97B1-E16D-3D48-B6946C77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9264-757F-79F8-9C4D-50FAFD79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/>
          </a:bodyPr>
          <a:lstStyle/>
          <a:p>
            <a:r>
              <a:rPr lang="en-US" b="1" dirty="0"/>
              <a:t>Provide Actionable Insights:-</a:t>
            </a:r>
          </a:p>
          <a:p>
            <a:pPr marL="0" indent="0">
              <a:buNone/>
            </a:pPr>
            <a:r>
              <a:rPr lang="en-US" dirty="0"/>
              <a:t>Deliver clear, visual representations of threat indicators through Power BI dashboards that enable security teams to make informed decisions quickly.</a:t>
            </a:r>
          </a:p>
          <a:p>
            <a:r>
              <a:rPr lang="en-IN" b="1" dirty="0"/>
              <a:t>Reduce False Positives:-</a:t>
            </a:r>
          </a:p>
          <a:p>
            <a:pPr marL="0" indent="0">
              <a:buNone/>
            </a:pPr>
            <a:r>
              <a:rPr lang="en-US" dirty="0"/>
              <a:t>Refine detection algorithms to minimize false alarms while maintaining high sensitivity to genuine insider threat behaviors.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264C-F8FC-391C-F91D-5E2D9EB4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9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C4796-1B4C-7D77-229B-796CF975CD57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68B61F-48F6-C3F3-810F-72A38DC5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98"/>
            <a:ext cx="10700657" cy="5192478"/>
          </a:xfrm>
        </p:spPr>
        <p:txBody>
          <a:bodyPr>
            <a:noAutofit/>
          </a:bodyPr>
          <a:lstStyle/>
          <a:p>
            <a:r>
              <a:rPr lang="en-IN" b="1" dirty="0"/>
              <a:t>Data Collection: </a:t>
            </a:r>
            <a:r>
              <a:rPr lang="en-US" dirty="0"/>
              <a:t> Gathering comprehensive user activity logs, access records, file transfers, email communications, and system interactions across the organization's infrastructure.</a:t>
            </a:r>
          </a:p>
          <a:p>
            <a:r>
              <a:rPr lang="en-IN" b="1" dirty="0"/>
              <a:t>Data Integration: </a:t>
            </a:r>
            <a:r>
              <a:rPr lang="en-US" dirty="0"/>
              <a:t>Consolidating data from multiple sources into a unified Power BI environment for seamless analysis and correlation of events.</a:t>
            </a:r>
          </a:p>
          <a:p>
            <a:r>
              <a:rPr lang="en-IN" b="1" dirty="0"/>
              <a:t>Pattern Analysis: </a:t>
            </a:r>
            <a:r>
              <a:rPr lang="en-US" dirty="0"/>
              <a:t>Applying statistical methods and machine learning algorithms to identify baseline behaviors and detect deviations that may indicate insider threats.</a:t>
            </a:r>
          </a:p>
          <a:p>
            <a:r>
              <a:rPr lang="en-IN" b="1" dirty="0"/>
              <a:t>Visualization Dashboard: </a:t>
            </a:r>
            <a:r>
              <a:rPr lang="en-US" dirty="0"/>
              <a:t>Creating interactive Power BI dashboards that present threat indicators, risk scores, and behavioral anomalies in an intuitive, actionable format.</a:t>
            </a:r>
          </a:p>
          <a:p>
            <a:endParaRPr lang="en-IN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3388-E42F-98DE-B3BB-09C05B1E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14C0-CB0B-F690-9102-01F08EDB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0A2C3-072A-830D-A130-81AA560A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727CF-7777-F8B5-24DB-21BBD72EED5E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1C1B8-5BFC-9274-F93E-4FEBB33D5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52" y="1517650"/>
            <a:ext cx="9434696" cy="5203825"/>
          </a:xfrm>
        </p:spPr>
      </p:pic>
    </p:spTree>
    <p:extLst>
      <p:ext uri="{BB962C8B-B14F-4D97-AF65-F5344CB8AC3E}">
        <p14:creationId xmlns:p14="http://schemas.microsoft.com/office/powerpoint/2010/main" val="262978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IN" b="1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4639143"/>
          </a:xfrm>
        </p:spPr>
        <p:txBody>
          <a:bodyPr>
            <a:normAutofit/>
          </a:bodyPr>
          <a:lstStyle/>
          <a:p>
            <a:r>
              <a:rPr lang="en-IN" b="1" dirty="0"/>
              <a:t>The Challenge: </a:t>
            </a:r>
          </a:p>
          <a:p>
            <a:pPr marL="0" indent="0">
              <a:buNone/>
            </a:pPr>
            <a:r>
              <a:rPr lang="en-US" dirty="0"/>
              <a:t>Traditional security measures focus primarily on external threats, leaving organizations vulnerable to malicious insiders who exploit their authorized access.</a:t>
            </a:r>
          </a:p>
          <a:p>
            <a:r>
              <a:rPr lang="en-IN" b="1" dirty="0"/>
              <a:t>The Solution</a:t>
            </a:r>
          </a:p>
          <a:p>
            <a:pPr marL="0" indent="0">
              <a:buNone/>
            </a:pPr>
            <a:r>
              <a:rPr lang="en-US" dirty="0"/>
              <a:t>Develop an automated, data-driven detection system that continuously monitors user behavior and identifies anomalies indicative of insider threats.</a:t>
            </a:r>
          </a:p>
          <a:p>
            <a:pPr lvl="2"/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86A6-DE1F-ACC9-A8EE-99F8E848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305791-8D35-186D-76DF-0B829C492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1690688"/>
            <a:ext cx="8094688" cy="445527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E0DA-70D0-3D62-C1CE-04BCB9AB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8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4DDA-E5C1-05BB-5C54-6C00C249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9569-58A7-0477-056D-7807EC733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Power BI-based system successfully identified insider threat patterns with high accuracy, demonstrating the effectiveness of data-driven approaches in cybersecurity.</a:t>
            </a:r>
          </a:p>
          <a:p>
            <a:r>
              <a:rPr lang="en-US" dirty="0"/>
              <a:t>Interactive dashboards provided security teams with clear visualizations of risk indicators, enabling faster response times and more informed decision-making.</a:t>
            </a:r>
          </a:p>
          <a:p>
            <a:r>
              <a:rPr lang="en-US" dirty="0"/>
              <a:t>The framework can be adapted to organizations of various sizes and industries, offering a flexible approach to insider threat detection.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19151-8C5C-A71F-0675-481398DD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7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0947" y="2397968"/>
            <a:ext cx="4366726" cy="1726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dirty="0">
                <a:latin typeface="Monotype Corsiva" panose="03010101010201010101" pitchFamily="66" charset="0"/>
              </a:rPr>
              <a:t>                          </a:t>
            </a:r>
            <a:r>
              <a:rPr lang="en-US" sz="9600" dirty="0">
                <a:latin typeface="Monotype Corsiva" panose="03010101010201010101" pitchFamily="66" charset="0"/>
              </a:rPr>
              <a:t>Thankyou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6708</TotalTime>
  <Words>516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Casper</vt:lpstr>
      <vt:lpstr>Monotype Corsiva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</vt:lpstr>
      <vt:lpstr>Objectives</vt:lpstr>
      <vt:lpstr>Objectives</vt:lpstr>
      <vt:lpstr>Key components</vt:lpstr>
      <vt:lpstr>Project Overview </vt:lpstr>
      <vt:lpstr>Problem Formulation</vt:lpstr>
      <vt:lpstr>Block Diagram</vt:lpstr>
      <vt:lpstr>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Lalit Jangra</cp:lastModifiedBy>
  <cp:revision>499</cp:revision>
  <dcterms:created xsi:type="dcterms:W3CDTF">2019-01-09T10:33:58Z</dcterms:created>
  <dcterms:modified xsi:type="dcterms:W3CDTF">2025-11-17T05:54:53Z</dcterms:modified>
</cp:coreProperties>
</file>